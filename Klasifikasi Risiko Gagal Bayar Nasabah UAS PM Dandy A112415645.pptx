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Semi-Bold" charset="1" panose="00000700000000000000"/>
      <p:regular r:id="rId21"/>
    </p:embeddedFon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3"/>
    </p:embeddedFont>
    <p:embeddedFont>
      <p:font typeface="Open Sans Light" charset="1" panose="020B0306030504020204"/>
      <p:regular r:id="rId24"/>
    </p:embeddedFont>
    <p:embeddedFont>
      <p:font typeface="Calibri (MS)" charset="1" panose="020F0502020204030204"/>
      <p:regular r:id="rId28"/>
    </p:embeddedFont>
    <p:embeddedFont>
      <p:font typeface="Cambria Bold" charset="1" panose="02040803050406030204"/>
      <p:regular r:id="rId29"/>
    </p:embeddedFont>
    <p:embeddedFont>
      <p:font typeface="Calibri (MS) Bold" charset="1" panose="020F0702030404030204"/>
      <p:regular r:id="rId31"/>
    </p:embeddedFont>
    <p:embeddedFont>
      <p:font typeface="DM Sans" charset="1" panose="00000000000000000000"/>
      <p:regular r:id="rId32"/>
    </p:embeddedFont>
    <p:embeddedFont>
      <p:font typeface="Calibri (MS) Italics" charset="1" panose="020F05020202040A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629345" y="7616060"/>
            <a:ext cx="6765710" cy="1457523"/>
            <a:chOff x="0" y="0"/>
            <a:chExt cx="1781915" cy="383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81915" cy="383874"/>
            </a:xfrm>
            <a:custGeom>
              <a:avLst/>
              <a:gdLst/>
              <a:ahLst/>
              <a:cxnLst/>
              <a:rect r="r" b="b" t="t" l="l"/>
              <a:pathLst>
                <a:path h="383874" w="1781915">
                  <a:moveTo>
                    <a:pt x="0" y="0"/>
                  </a:moveTo>
                  <a:lnTo>
                    <a:pt x="1781915" y="0"/>
                  </a:lnTo>
                  <a:lnTo>
                    <a:pt x="1781915" y="383874"/>
                  </a:lnTo>
                  <a:lnTo>
                    <a:pt x="0" y="383874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81915" cy="421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6542" y="3689320"/>
            <a:ext cx="18514017" cy="232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9999" spc="-539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KLASIFIKASI RISIKO GAGAL BAYAR NASABAH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80510" y="7945586"/>
            <a:ext cx="6126980" cy="83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9"/>
              </a:lnSpc>
            </a:pPr>
            <a:r>
              <a:rPr lang="en-US" b="true" sz="3189" spc="-6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DANDY PRASETYO NUGROHO</a:t>
            </a:r>
          </a:p>
          <a:p>
            <a:pPr algn="ctr">
              <a:lnSpc>
                <a:spcPts val="3189"/>
              </a:lnSpc>
            </a:pPr>
            <a:r>
              <a:rPr lang="en-US" sz="3189" spc="-6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A11.2024.15645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5330" y="5975318"/>
            <a:ext cx="1513644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Pendekatan Random Forest dengan Penanganan Imbalanced Data untuk Mendukung Kebijakan Manajemen Risiko Kredit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6272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A1A1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Tiga Tantangan Utama Deteksi Gagal Bayar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743200"/>
            <a:ext cx="109728" cy="1645920"/>
            <a:chOff x="0" y="0"/>
            <a:chExt cx="146304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AAD6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40180" y="2674620"/>
            <a:ext cx="14813280" cy="685800"/>
            <a:chOff x="0" y="0"/>
            <a:chExt cx="1975104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97510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A1A1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Kesalahan Berbiaya Tinggi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31620" y="3368040"/>
            <a:ext cx="14218920" cy="90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Meloloskan nasabah berisiko tinggi bisa berujung kredit macet bagi lembaga keuangan.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60120" y="4869180"/>
            <a:ext cx="109728" cy="1645920"/>
            <a:chOff x="0" y="0"/>
            <a:chExt cx="146304" cy="219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AAD6D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40180" y="4800600"/>
            <a:ext cx="14813280" cy="685800"/>
            <a:chOff x="0" y="0"/>
            <a:chExt cx="1975104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97510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A1A1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Peristiwa yang Jarang Terjadi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31620" y="5494020"/>
            <a:ext cx="14218920" cy="90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Gagal bayar hanya dialami sebagian kecil nasabah, sehingga polanya mudah tenggelam di antara data nasabah yang sehat.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0120" y="6995160"/>
            <a:ext cx="109728" cy="1645920"/>
            <a:chOff x="0" y="0"/>
            <a:chExt cx="146304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AAD6D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40180" y="6926580"/>
            <a:ext cx="14813280" cy="685800"/>
            <a:chOff x="0" y="0"/>
            <a:chExt cx="1975104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97510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A1A1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Aturan Manual yang Terbatas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31620" y="7620000"/>
            <a:ext cx="14218920" cy="90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Pendekatan berbasis aturan sulit menangkap interaksi kompleks antar indikator finansial nasabah secara bersamaan.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7419320" y="9669780"/>
            <a:ext cx="685800" cy="480060"/>
            <a:chOff x="0" y="0"/>
            <a:chExt cx="91440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1856" y="1522633"/>
            <a:ext cx="1476428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b="true" sz="50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Rumusan Masalah dan Tujuan Bisnis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086100"/>
            <a:ext cx="8092440" cy="6172200"/>
            <a:chOff x="0" y="0"/>
            <a:chExt cx="10789920" cy="822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789920" cy="8229600"/>
            </a:xfrm>
            <a:custGeom>
              <a:avLst/>
              <a:gdLst/>
              <a:ahLst/>
              <a:cxnLst/>
              <a:rect r="r" b="b" t="t" l="l"/>
              <a:pathLst>
                <a:path h="822960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8010144"/>
                  </a:lnTo>
                  <a:cubicBezTo>
                    <a:pt x="10789920" y="8131301"/>
                    <a:pt x="10691622" y="8229600"/>
                    <a:pt x="10570464" y="8229600"/>
                  </a:cubicBezTo>
                  <a:lnTo>
                    <a:pt x="219456" y="8229600"/>
                  </a:lnTo>
                  <a:cubicBezTo>
                    <a:pt x="98298" y="8229600"/>
                    <a:pt x="0" y="8131302"/>
                    <a:pt x="0" y="8010144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344983" y="3086100"/>
            <a:ext cx="8023860" cy="6172200"/>
            <a:chOff x="0" y="0"/>
            <a:chExt cx="10698480" cy="822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98480" cy="8229600"/>
            </a:xfrm>
            <a:custGeom>
              <a:avLst/>
              <a:gdLst/>
              <a:ahLst/>
              <a:cxnLst/>
              <a:rect r="r" b="b" t="t" l="l"/>
              <a:pathLst>
                <a:path h="822960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8010144"/>
                  </a:lnTo>
                  <a:cubicBezTo>
                    <a:pt x="10698480" y="8131301"/>
                    <a:pt x="10600182" y="8229600"/>
                    <a:pt x="10479024" y="8229600"/>
                  </a:cubicBezTo>
                  <a:lnTo>
                    <a:pt x="219456" y="8229600"/>
                  </a:lnTo>
                  <a:cubicBezTo>
                    <a:pt x="98298" y="8229600"/>
                    <a:pt x="0" y="8131302"/>
                    <a:pt x="0" y="8010144"/>
                  </a:cubicBezTo>
                  <a:close/>
                </a:path>
              </a:pathLst>
            </a:custGeom>
            <a:solidFill>
              <a:srgbClr val="D5EBE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61856" y="4114122"/>
            <a:ext cx="6995160" cy="685800"/>
            <a:chOff x="0" y="0"/>
            <a:chExt cx="932688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26880" cy="914400"/>
            </a:xfrm>
            <a:custGeom>
              <a:avLst/>
              <a:gdLst/>
              <a:ahLst/>
              <a:cxnLst/>
              <a:rect r="r" b="b" t="t" l="l"/>
              <a:pathLst>
                <a:path h="9144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747" r="0" b="-14874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3268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Rumusan Masalah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00200" y="5095875"/>
            <a:ext cx="6812280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3621" indent="-196810" lvl="1">
              <a:lnSpc>
                <a:spcPts val="2610"/>
              </a:lnSpc>
              <a:buFont typeface="Arial"/>
              <a:buChar char="•"/>
            </a:pPr>
            <a:r>
              <a:rPr lang="en-US" sz="21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Seberapa besar dampak ketimpangan kelas terhadap performa model klasifikasi?</a:t>
            </a:r>
          </a:p>
          <a:p>
            <a:pPr algn="l" marL="393621" indent="-196810" lvl="1">
              <a:lnSpc>
                <a:spcPts val="2610"/>
              </a:lnSpc>
              <a:buFont typeface="Arial"/>
              <a:buChar char="•"/>
            </a:pPr>
            <a:r>
              <a:rPr lang="en-US" sz="21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Strategi penanganan imbalance mana yang paling efektif: class-weight, SMOTE, atau kombinasi?</a:t>
            </a:r>
          </a:p>
          <a:p>
            <a:pPr algn="l" marL="393621" indent="-196810" lvl="1">
              <a:lnSpc>
                <a:spcPts val="2610"/>
              </a:lnSpc>
              <a:buFont typeface="Arial"/>
              <a:buChar char="•"/>
            </a:pPr>
            <a:r>
              <a:rPr lang="en-US" sz="21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Fitur finansial apa yang paling berkontribusi terhadap risiko gagal bayar?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002239" y="4114122"/>
            <a:ext cx="6995160" cy="685800"/>
            <a:chOff x="0" y="0"/>
            <a:chExt cx="932688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26880" cy="914400"/>
            </a:xfrm>
            <a:custGeom>
              <a:avLst/>
              <a:gdLst/>
              <a:ahLst/>
              <a:cxnLst/>
              <a:rect r="r" b="b" t="t" l="l"/>
              <a:pathLst>
                <a:path h="9144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747" r="0" b="-14874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3268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Tujuan Bisnis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02239" y="4752975"/>
            <a:ext cx="6812280" cy="461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3621" indent="-196810" lvl="1">
              <a:lnSpc>
                <a:spcPts val="2610"/>
              </a:lnSpc>
              <a:buFont typeface="Arial"/>
              <a:buChar char="•"/>
            </a:pPr>
            <a:r>
              <a:rPr lang="en-US" sz="2175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Recall setinggi mungkin pada kelas default, tanpa mengorbankan precision berlebihan</a:t>
            </a:r>
          </a:p>
          <a:p>
            <a:pPr algn="l" marL="393621" indent="-196810" lvl="1">
              <a:lnSpc>
                <a:spcPts val="2610"/>
              </a:lnSpc>
              <a:buFont typeface="Arial"/>
              <a:buChar char="•"/>
            </a:pPr>
            <a:r>
              <a:rPr lang="en-US" sz="2175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Model layak dipakai sebagai alat bantu keputusan kredit (early warning), bukan pengganti analis</a:t>
            </a:r>
          </a:p>
          <a:p>
            <a:pPr algn="l" marL="393621" indent="-196810" lvl="1">
              <a:lnSpc>
                <a:spcPts val="2610"/>
              </a:lnSpc>
              <a:buFont typeface="Arial"/>
              <a:buChar char="•"/>
            </a:pPr>
            <a:r>
              <a:rPr lang="en-US" sz="2175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Wawasan fitur risiko untuk kebijakan manajemen risiko kredit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1097280"/>
            <a:ext cx="16184880" cy="1044626"/>
            <a:chOff x="0" y="0"/>
            <a:chExt cx="21579840" cy="1392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79839" cy="1392834"/>
            </a:xfrm>
            <a:custGeom>
              <a:avLst/>
              <a:gdLst/>
              <a:ahLst/>
              <a:cxnLst/>
              <a:rect r="r" b="b" t="t" l="l"/>
              <a:pathLst>
                <a:path h="1392834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92834"/>
                  </a:lnTo>
                  <a:lnTo>
                    <a:pt x="0" y="1392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935" r="0" b="-247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79840" cy="1430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Dataset: Loan Default Prediction (Kaggle)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880360"/>
            <a:ext cx="3771900" cy="2606040"/>
            <a:chOff x="0" y="0"/>
            <a:chExt cx="5029200" cy="3474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292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255264"/>
                  </a:lnTo>
                  <a:cubicBezTo>
                    <a:pt x="5029200" y="3376422"/>
                    <a:pt x="4930902" y="3474720"/>
                    <a:pt x="480974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0120" y="2051523"/>
            <a:ext cx="3771900" cy="3303594"/>
            <a:chOff x="0" y="0"/>
            <a:chExt cx="5029200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292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3" r="0" b="5906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0292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D5EBE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10.000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57300" y="4236720"/>
            <a:ext cx="3177540" cy="90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Baris nasabah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74920" y="2880360"/>
            <a:ext cx="3771900" cy="2606040"/>
            <a:chOff x="0" y="0"/>
            <a:chExt cx="5029200" cy="3474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292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255264"/>
                  </a:lnTo>
                  <a:cubicBezTo>
                    <a:pt x="5029200" y="3376422"/>
                    <a:pt x="4930902" y="3474720"/>
                    <a:pt x="480974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074920" y="2051523"/>
            <a:ext cx="3771900" cy="3303594"/>
            <a:chOff x="0" y="0"/>
            <a:chExt cx="5029200" cy="44047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292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404792"/>
                  </a:lnTo>
                  <a:lnTo>
                    <a:pt x="0" y="4404792"/>
                  </a:lnTo>
                  <a:close/>
                </a:path>
              </a:pathLst>
            </a:custGeom>
            <a:solidFill>
              <a:srgbClr val="D5EBEA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0292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b="true" sz="4500">
                  <a:solidFill>
                    <a:srgbClr val="D5EBE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372100" y="4259580"/>
            <a:ext cx="3177540" cy="90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Fitur input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89720" y="2880360"/>
            <a:ext cx="3771900" cy="2606040"/>
            <a:chOff x="0" y="0"/>
            <a:chExt cx="5029200" cy="3474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292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255264"/>
                  </a:lnTo>
                  <a:cubicBezTo>
                    <a:pt x="5029200" y="3376422"/>
                    <a:pt x="4930902" y="3474720"/>
                    <a:pt x="480974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89720" y="3086100"/>
            <a:ext cx="3771900" cy="1234440"/>
            <a:chOff x="0" y="0"/>
            <a:chExt cx="502920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29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0292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b="true" sz="4500">
                  <a:solidFill>
                    <a:srgbClr val="D5EBE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29 : 1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486900" y="4259580"/>
            <a:ext cx="3177540" cy="90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Rasio ketimpangan kelas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304520" y="2880360"/>
            <a:ext cx="3771900" cy="2606040"/>
            <a:chOff x="0" y="0"/>
            <a:chExt cx="5029200" cy="3474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292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3255264"/>
                  </a:lnTo>
                  <a:cubicBezTo>
                    <a:pt x="5029200" y="3376422"/>
                    <a:pt x="4930902" y="3474720"/>
                    <a:pt x="480974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304520" y="3086100"/>
            <a:ext cx="3771900" cy="1234440"/>
            <a:chOff x="0" y="0"/>
            <a:chExt cx="5029200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29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0292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b="true" sz="4500">
                  <a:solidFill>
                    <a:srgbClr val="D5EBE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601700" y="4259580"/>
            <a:ext cx="3177540" cy="90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Missing value &amp; duplikat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0120" y="5966460"/>
            <a:ext cx="8229600" cy="548640"/>
            <a:chOff x="0" y="0"/>
            <a:chExt cx="109728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5A649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Sumber Dataset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120" y="6515100"/>
            <a:ext cx="16322040" cy="960120"/>
            <a:chOff x="0" y="0"/>
            <a:chExt cx="21762720" cy="1280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176272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kaggle.com/datasets/kmldas/loan-default-prediction — dideskripsikan sebagai beginner dataset untuk financial analytics (topik: business, tabular, finance, banking).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120" y="7539990"/>
            <a:ext cx="8229600" cy="548640"/>
            <a:chOff x="0" y="0"/>
            <a:chExt cx="109728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5A649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Kolom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960120" y="8088630"/>
          <a:ext cx="16306800" cy="1830070"/>
        </p:xfrm>
        <a:graphic>
          <a:graphicData uri="http://schemas.openxmlformats.org/drawingml/2006/table">
            <a:tbl>
              <a:tblPr/>
              <a:tblGrid>
                <a:gridCol w="4115580"/>
                <a:gridCol w="4115580"/>
                <a:gridCol w="8075640"/>
              </a:tblGrid>
              <a:tr h="535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Kolom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7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Tipe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7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Keterangan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7D4"/>
                    </a:solidFill>
                  </a:tcPr>
                </a:tc>
              </a:tr>
              <a:tr h="3237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Employed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int64 (biner)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= bekerja, 0 = tidak bekerja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7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Bank Balance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float64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Saldo bank nasabah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7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Annual Salary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float64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Gaji tahunan nasabah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7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Defaulted?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int64 (biner, target)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= default, 0 = tidak default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13602" y="4255385"/>
            <a:ext cx="3341822" cy="677387"/>
            <a:chOff x="0" y="0"/>
            <a:chExt cx="880151" cy="1784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0151" cy="178407"/>
            </a:xfrm>
            <a:custGeom>
              <a:avLst/>
              <a:gdLst/>
              <a:ahLst/>
              <a:cxnLst/>
              <a:rect r="r" b="b" t="t" l="l"/>
              <a:pathLst>
                <a:path h="178407" w="880151">
                  <a:moveTo>
                    <a:pt x="89203" y="0"/>
                  </a:moveTo>
                  <a:lnTo>
                    <a:pt x="790947" y="0"/>
                  </a:lnTo>
                  <a:cubicBezTo>
                    <a:pt x="814606" y="0"/>
                    <a:pt x="837295" y="9398"/>
                    <a:pt x="854024" y="26127"/>
                  </a:cubicBezTo>
                  <a:cubicBezTo>
                    <a:pt x="870752" y="42856"/>
                    <a:pt x="880151" y="65545"/>
                    <a:pt x="880151" y="89203"/>
                  </a:cubicBezTo>
                  <a:lnTo>
                    <a:pt x="880151" y="89203"/>
                  </a:lnTo>
                  <a:cubicBezTo>
                    <a:pt x="880151" y="138469"/>
                    <a:pt x="840213" y="178407"/>
                    <a:pt x="790947" y="178407"/>
                  </a:cubicBezTo>
                  <a:lnTo>
                    <a:pt x="89203" y="178407"/>
                  </a:lnTo>
                  <a:cubicBezTo>
                    <a:pt x="65545" y="178407"/>
                    <a:pt x="42856" y="169008"/>
                    <a:pt x="26127" y="152280"/>
                  </a:cubicBezTo>
                  <a:cubicBezTo>
                    <a:pt x="9398" y="135551"/>
                    <a:pt x="0" y="112861"/>
                    <a:pt x="0" y="89203"/>
                  </a:cubicBezTo>
                  <a:lnTo>
                    <a:pt x="0" y="89203"/>
                  </a:lnTo>
                  <a:cubicBezTo>
                    <a:pt x="0" y="65545"/>
                    <a:pt x="9398" y="42856"/>
                    <a:pt x="26127" y="26127"/>
                  </a:cubicBezTo>
                  <a:cubicBezTo>
                    <a:pt x="42856" y="9398"/>
                    <a:pt x="65545" y="0"/>
                    <a:pt x="89203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0151" cy="21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01570" y="350853"/>
            <a:ext cx="14484860" cy="323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9"/>
              </a:lnSpc>
            </a:pPr>
            <a:r>
              <a:rPr lang="en-US" sz="7938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Ketimpangan Kelas: Tantangan Utama</a:t>
            </a:r>
          </a:p>
          <a:p>
            <a:pPr algn="ctr">
              <a:lnSpc>
                <a:spcPts val="68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473120" y="4396415"/>
            <a:ext cx="3022786" cy="536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88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5 Insight Utama EDA</a:t>
            </a:r>
          </a:p>
          <a:p>
            <a:pPr algn="ctr">
              <a:lnSpc>
                <a:spcPts val="203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839538" y="5357820"/>
            <a:ext cx="7956493" cy="4078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6495" indent="-203247" lvl="1">
              <a:lnSpc>
                <a:spcPts val="2541"/>
              </a:lnSpc>
              <a:spcBef>
                <a:spcPct val="0"/>
              </a:spcBef>
              <a:buFont typeface="Arial"/>
              <a:buChar char="•"/>
            </a:pPr>
            <a:r>
              <a:rPr lang="en-US" sz="1882" spc="11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Ketimpangan kelas sangat ekst</a:t>
            </a:r>
            <a:r>
              <a:rPr lang="en-US" sz="1882" spc="11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rem (29:1), sehingga accuracy tidak layak jadi metrik evaluasi utama.</a:t>
            </a:r>
          </a:p>
          <a:p>
            <a:pPr algn="l" marL="406495" indent="-203247" lvl="1">
              <a:lnSpc>
                <a:spcPts val="2541"/>
              </a:lnSpc>
              <a:spcBef>
                <a:spcPct val="0"/>
              </a:spcBef>
              <a:buFont typeface="Arial"/>
              <a:buChar char="•"/>
            </a:pPr>
            <a:r>
              <a:rPr lang="en-US" sz="1882" spc="11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Bank Balance adalah fitur individual dengan korelasi tertinggi terhadap default (0,350).</a:t>
            </a:r>
          </a:p>
          <a:p>
            <a:pPr algn="l" marL="406495" indent="-203247" lvl="1">
              <a:lnSpc>
                <a:spcPts val="2541"/>
              </a:lnSpc>
              <a:spcBef>
                <a:spcPct val="0"/>
              </a:spcBef>
              <a:buFont typeface="Arial"/>
              <a:buChar char="•"/>
            </a:pPr>
            <a:r>
              <a:rPr lang="en-US" sz="1882" spc="11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Nasabah default justru punya Bank Balance nominal lebih tinggi, sehingga rasio saldo terhadap gaji lebih informatif dibanding nilai mentahnya.</a:t>
            </a:r>
          </a:p>
          <a:p>
            <a:pPr algn="l" marL="406495" indent="-203247" lvl="1">
              <a:lnSpc>
                <a:spcPts val="2541"/>
              </a:lnSpc>
              <a:spcBef>
                <a:spcPct val="0"/>
              </a:spcBef>
              <a:buFont typeface="Arial"/>
              <a:buChar char="•"/>
            </a:pPr>
            <a:r>
              <a:rPr lang="en-US" sz="1882" spc="11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Employed dan Annual Salary saling berkorelasi tinggi (0,754), namun keduanya lemah dalam membedakan default.</a:t>
            </a:r>
          </a:p>
          <a:p>
            <a:pPr algn="l" marL="406495" indent="-203247" lvl="1">
              <a:lnSpc>
                <a:spcPts val="2541"/>
              </a:lnSpc>
              <a:spcBef>
                <a:spcPct val="0"/>
              </a:spcBef>
              <a:buFont typeface="Arial"/>
              <a:buChar char="•"/>
            </a:pPr>
            <a:r>
              <a:rPr lang="en-US" sz="1882" spc="112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Tidak ditemukan missing value maupun duplikat, sehingga fokus preprocessing diarahkan sepenuhnya ke imbalance handling.</a:t>
            </a:r>
          </a:p>
          <a:p>
            <a:pPr algn="l" marL="0" indent="0" lvl="0">
              <a:lnSpc>
                <a:spcPts val="2541"/>
              </a:lnSpc>
              <a:spcBef>
                <a:spcPct val="0"/>
              </a:spcBef>
            </a:pP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666332" y="3045934"/>
            <a:ext cx="6045769" cy="64724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6322040" cy="1234440"/>
            <a:chOff x="0" y="0"/>
            <a:chExt cx="2176272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6272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60"/>
                </a:lnSpc>
              </a:pPr>
              <a:r>
                <a:rPr lang="en-US" sz="4050" b="true">
                  <a:solidFill>
                    <a:srgbClr val="1A1A1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Feature Engineering dan Strategi Split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880360"/>
            <a:ext cx="3909060" cy="5760720"/>
            <a:chOff x="0" y="0"/>
            <a:chExt cx="5212080" cy="768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12080" cy="7680960"/>
            </a:xfrm>
            <a:custGeom>
              <a:avLst/>
              <a:gdLst/>
              <a:ahLst/>
              <a:cxnLst/>
              <a:rect r="r" b="b" t="t" l="l"/>
              <a:pathLst>
                <a:path h="76809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7498080"/>
                  </a:lnTo>
                  <a:cubicBezTo>
                    <a:pt x="5212080" y="7599045"/>
                    <a:pt x="5130165" y="7680960"/>
                    <a:pt x="5029200" y="7680960"/>
                  </a:cubicBezTo>
                  <a:lnTo>
                    <a:pt x="182880" y="7680960"/>
                  </a:lnTo>
                  <a:cubicBezTo>
                    <a:pt x="81915" y="7680960"/>
                    <a:pt x="0" y="7599045"/>
                    <a:pt x="0" y="7498080"/>
                  </a:cubicBezTo>
                  <a:close/>
                </a:path>
              </a:pathLst>
            </a:custGeom>
            <a:solidFill>
              <a:srgbClr val="D5EBE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434590" y="3291840"/>
            <a:ext cx="960120" cy="960120"/>
            <a:chOff x="0" y="0"/>
            <a:chExt cx="12801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D266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434590" y="3291840"/>
            <a:ext cx="960120" cy="960120"/>
            <a:chOff x="0" y="0"/>
            <a:chExt cx="1280160" cy="1280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8016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4526280"/>
            <a:ext cx="3360420" cy="960120"/>
            <a:chOff x="0" y="0"/>
            <a:chExt cx="44805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4805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Split 70:15:15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94460" y="5494020"/>
            <a:ext cx="3040380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Stratified train:validation:test, dilakukan sebelum feature engineering untuk mencegah data leakage.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170932" y="2880360"/>
            <a:ext cx="3909060" cy="5760720"/>
            <a:chOff x="0" y="0"/>
            <a:chExt cx="5212080" cy="7680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2080" cy="7680960"/>
            </a:xfrm>
            <a:custGeom>
              <a:avLst/>
              <a:gdLst/>
              <a:ahLst/>
              <a:cxnLst/>
              <a:rect r="r" b="b" t="t" l="l"/>
              <a:pathLst>
                <a:path h="76809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7498080"/>
                  </a:lnTo>
                  <a:cubicBezTo>
                    <a:pt x="5212080" y="7599045"/>
                    <a:pt x="5130165" y="7680960"/>
                    <a:pt x="5029200" y="7680960"/>
                  </a:cubicBezTo>
                  <a:lnTo>
                    <a:pt x="182880" y="7680960"/>
                  </a:lnTo>
                  <a:cubicBezTo>
                    <a:pt x="81915" y="7680960"/>
                    <a:pt x="0" y="7599045"/>
                    <a:pt x="0" y="7498080"/>
                  </a:cubicBezTo>
                  <a:close/>
                </a:path>
              </a:pathLst>
            </a:custGeom>
            <a:solidFill>
              <a:srgbClr val="AAD6D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645402" y="3291840"/>
            <a:ext cx="960120" cy="960120"/>
            <a:chOff x="0" y="0"/>
            <a:chExt cx="128016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D266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645402" y="3291840"/>
            <a:ext cx="960120" cy="960120"/>
            <a:chOff x="0" y="0"/>
            <a:chExt cx="128016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28016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45252" y="4526280"/>
            <a:ext cx="3360420" cy="960120"/>
            <a:chOff x="0" y="0"/>
            <a:chExt cx="448056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4805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Feature Engineering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605272" y="5494020"/>
            <a:ext cx="3040380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Balance_to_Salary_Ratio dan Balance_per_Employment ditambahkan untuk menangkap sinyal risiko relatif.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81744" y="2880360"/>
            <a:ext cx="3909060" cy="5760720"/>
            <a:chOff x="0" y="0"/>
            <a:chExt cx="5212080" cy="7680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12080" cy="7680960"/>
            </a:xfrm>
            <a:custGeom>
              <a:avLst/>
              <a:gdLst/>
              <a:ahLst/>
              <a:cxnLst/>
              <a:rect r="r" b="b" t="t" l="l"/>
              <a:pathLst>
                <a:path h="76809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7498080"/>
                  </a:lnTo>
                  <a:cubicBezTo>
                    <a:pt x="5212080" y="7599045"/>
                    <a:pt x="5130165" y="7680960"/>
                    <a:pt x="5029200" y="7680960"/>
                  </a:cubicBezTo>
                  <a:lnTo>
                    <a:pt x="182880" y="7680960"/>
                  </a:lnTo>
                  <a:cubicBezTo>
                    <a:pt x="81915" y="7680960"/>
                    <a:pt x="0" y="7599045"/>
                    <a:pt x="0" y="7498080"/>
                  </a:cubicBezTo>
                  <a:close/>
                </a:path>
              </a:pathLst>
            </a:custGeom>
            <a:solidFill>
              <a:srgbClr val="D5EBE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856214" y="3291840"/>
            <a:ext cx="960120" cy="960120"/>
            <a:chOff x="0" y="0"/>
            <a:chExt cx="1280160" cy="12801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D266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856214" y="3291840"/>
            <a:ext cx="960120" cy="960120"/>
            <a:chOff x="0" y="0"/>
            <a:chExt cx="128016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28016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56064" y="4526280"/>
            <a:ext cx="3360420" cy="960120"/>
            <a:chOff x="0" y="0"/>
            <a:chExt cx="448056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4805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StandardScaler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816084" y="5494020"/>
            <a:ext cx="3040380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Di-fit hanya pada training set, lalu diterapkan ke validation dan test set.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592556" y="2880360"/>
            <a:ext cx="3909060" cy="5760720"/>
            <a:chOff x="0" y="0"/>
            <a:chExt cx="5212080" cy="7680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12080" cy="7680960"/>
            </a:xfrm>
            <a:custGeom>
              <a:avLst/>
              <a:gdLst/>
              <a:ahLst/>
              <a:cxnLst/>
              <a:rect r="r" b="b" t="t" l="l"/>
              <a:pathLst>
                <a:path h="76809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7498080"/>
                  </a:lnTo>
                  <a:cubicBezTo>
                    <a:pt x="5212080" y="7599045"/>
                    <a:pt x="5130165" y="7680960"/>
                    <a:pt x="5029200" y="7680960"/>
                  </a:cubicBezTo>
                  <a:lnTo>
                    <a:pt x="182880" y="7680960"/>
                  </a:lnTo>
                  <a:cubicBezTo>
                    <a:pt x="81915" y="7680960"/>
                    <a:pt x="0" y="7599045"/>
                    <a:pt x="0" y="7498080"/>
                  </a:cubicBezTo>
                  <a:close/>
                </a:path>
              </a:pathLst>
            </a:custGeom>
            <a:solidFill>
              <a:srgbClr val="AAD6D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067026" y="3291840"/>
            <a:ext cx="960120" cy="960120"/>
            <a:chOff x="0" y="0"/>
            <a:chExt cx="128016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D266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067026" y="3291840"/>
            <a:ext cx="960120" cy="960120"/>
            <a:chOff x="0" y="0"/>
            <a:chExt cx="128016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28016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866876" y="4526280"/>
            <a:ext cx="3360420" cy="960120"/>
            <a:chOff x="0" y="0"/>
            <a:chExt cx="4480560" cy="12801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805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4805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SMOTE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4026896" y="5494020"/>
            <a:ext cx="3040380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Oversampling kelas minoritas, diterapkan hanya pada training set.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1097280"/>
            <a:ext cx="16184880" cy="1044626"/>
            <a:chOff x="0" y="0"/>
            <a:chExt cx="21579840" cy="1392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79839" cy="1392834"/>
            </a:xfrm>
            <a:custGeom>
              <a:avLst/>
              <a:gdLst/>
              <a:ahLst/>
              <a:cxnLst/>
              <a:rect r="r" b="b" t="t" l="l"/>
              <a:pathLst>
                <a:path h="1392834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92834"/>
                  </a:lnTo>
                  <a:lnTo>
                    <a:pt x="0" y="1392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935" r="0" b="-247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79840" cy="1430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C21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Perbandingan </a:t>
              </a:r>
              <a:r>
                <a:rPr lang="en-US" b="true" sz="4200">
                  <a:solidFill>
                    <a:srgbClr val="1C21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Tiga Algoritma Klasifikasi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743200"/>
            <a:ext cx="5074920" cy="3291840"/>
            <a:chOff x="0" y="0"/>
            <a:chExt cx="6766560" cy="4389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66561" cy="4389120"/>
            </a:xfrm>
            <a:custGeom>
              <a:avLst/>
              <a:gdLst/>
              <a:ahLst/>
              <a:cxnLst/>
              <a:rect r="r" b="b" t="t" l="l"/>
              <a:pathLst>
                <a:path h="4389120" w="6766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547104" y="0"/>
                  </a:lnTo>
                  <a:cubicBezTo>
                    <a:pt x="6668262" y="0"/>
                    <a:pt x="6766561" y="98298"/>
                    <a:pt x="6766561" y="219456"/>
                  </a:cubicBezTo>
                  <a:lnTo>
                    <a:pt x="6766561" y="4169664"/>
                  </a:lnTo>
                  <a:cubicBezTo>
                    <a:pt x="6766561" y="4290822"/>
                    <a:pt x="6668262" y="4389120"/>
                    <a:pt x="654710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7D9E9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03020" y="3017520"/>
            <a:ext cx="4389120" cy="822960"/>
            <a:chOff x="0" y="0"/>
            <a:chExt cx="58521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8521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Random Forest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94460" y="3916680"/>
            <a:ext cx="420624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Model utama — ensemble tree, tahan noise, menyediakan feature importance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15100" y="2743200"/>
            <a:ext cx="5074920" cy="3291840"/>
            <a:chOff x="0" y="0"/>
            <a:chExt cx="6766560" cy="4389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66561" cy="4389120"/>
            </a:xfrm>
            <a:custGeom>
              <a:avLst/>
              <a:gdLst/>
              <a:ahLst/>
              <a:cxnLst/>
              <a:rect r="r" b="b" t="t" l="l"/>
              <a:pathLst>
                <a:path h="4389120" w="6766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547104" y="0"/>
                  </a:lnTo>
                  <a:cubicBezTo>
                    <a:pt x="6668262" y="0"/>
                    <a:pt x="6766561" y="98298"/>
                    <a:pt x="6766561" y="219456"/>
                  </a:cubicBezTo>
                  <a:lnTo>
                    <a:pt x="6766561" y="4169664"/>
                  </a:lnTo>
                  <a:cubicBezTo>
                    <a:pt x="6766561" y="4290822"/>
                    <a:pt x="6668262" y="4389120"/>
                    <a:pt x="654710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58000" y="3017520"/>
            <a:ext cx="4389120" cy="822960"/>
            <a:chOff x="0" y="0"/>
            <a:chExt cx="585216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8521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Logistic Regression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949440" y="3916680"/>
            <a:ext cx="420624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Baseline linear untuk pembanding interpretabilitas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70080" y="2743200"/>
            <a:ext cx="5074920" cy="3291840"/>
            <a:chOff x="0" y="0"/>
            <a:chExt cx="6766560" cy="4389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66561" cy="4389120"/>
            </a:xfrm>
            <a:custGeom>
              <a:avLst/>
              <a:gdLst/>
              <a:ahLst/>
              <a:cxnLst/>
              <a:rect r="r" b="b" t="t" l="l"/>
              <a:pathLst>
                <a:path h="4389120" w="6766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547104" y="0"/>
                  </a:lnTo>
                  <a:cubicBezTo>
                    <a:pt x="6668262" y="0"/>
                    <a:pt x="6766561" y="98298"/>
                    <a:pt x="6766561" y="219456"/>
                  </a:cubicBezTo>
                  <a:lnTo>
                    <a:pt x="6766561" y="4169664"/>
                  </a:lnTo>
                  <a:cubicBezTo>
                    <a:pt x="6766561" y="4290822"/>
                    <a:pt x="6668262" y="4389120"/>
                    <a:pt x="654710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D5EBE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412980" y="3017520"/>
            <a:ext cx="4389120" cy="822960"/>
            <a:chOff x="0" y="0"/>
            <a:chExt cx="585216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2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8521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XGBoost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504420" y="3916680"/>
            <a:ext cx="420624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Gradient boosting sebagai pembanding ensemble ketiga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60120" y="6446520"/>
            <a:ext cx="16322040" cy="548640"/>
            <a:chOff x="0" y="0"/>
            <a:chExt cx="217627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5A649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Strategi Tuning: GridSearchCV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51560" y="7061835"/>
            <a:ext cx="1613916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Forest n_estimators [200, 400], max_depth [None, 8, 12], min_samples_leaf [1, 3, 5]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Scoring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 memakai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 average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precision 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atau 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PR-AUC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, karena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metrik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 i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eb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ih 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rep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re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se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tif untuk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 data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 yang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 sangat imbalanced 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di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ban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ding</a:t>
            </a:r>
            <a:r>
              <a:rPr lang="en-US" sz="195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 accuracy.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1097280"/>
            <a:ext cx="16184880" cy="1044626"/>
            <a:chOff x="0" y="0"/>
            <a:chExt cx="21579840" cy="1392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79839" cy="1392834"/>
            </a:xfrm>
            <a:custGeom>
              <a:avLst/>
              <a:gdLst/>
              <a:ahLst/>
              <a:cxnLst/>
              <a:rect r="r" b="b" t="t" l="l"/>
              <a:pathLst>
                <a:path h="1392834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92834"/>
                  </a:lnTo>
                  <a:lnTo>
                    <a:pt x="0" y="1392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935" r="0" b="-247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79840" cy="1430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Perbandingan Skenario Penanganan Imbalance (CV)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672084" y="973836"/>
            <a:ext cx="19586448" cy="95737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1097280"/>
            <a:ext cx="16184880" cy="1044626"/>
            <a:chOff x="0" y="0"/>
            <a:chExt cx="21579840" cy="1392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79839" cy="1392834"/>
            </a:xfrm>
            <a:custGeom>
              <a:avLst/>
              <a:gdLst/>
              <a:ahLst/>
              <a:cxnLst/>
              <a:rect r="r" b="b" t="t" l="l"/>
              <a:pathLst>
                <a:path h="1392834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92834"/>
                  </a:lnTo>
                  <a:lnTo>
                    <a:pt x="0" y="1392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935" r="0" b="-247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79840" cy="1430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Evaluasi Final pada Test Set: 3 Model Dibandingkan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60120" y="2743200"/>
          <a:ext cx="16230600" cy="2286000"/>
        </p:xfrm>
        <a:graphic>
          <a:graphicData uri="http://schemas.openxmlformats.org/drawingml/2006/table">
            <a:tbl>
              <a:tblPr/>
              <a:tblGrid>
                <a:gridCol w="4618525"/>
                <a:gridCol w="1912798"/>
                <a:gridCol w="1912798"/>
                <a:gridCol w="1777512"/>
                <a:gridCol w="1912798"/>
                <a:gridCol w="1912798"/>
                <a:gridCol w="2183371"/>
              </a:tblGrid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ROC-AUC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PR-AUC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 (SMOTE + tuning)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0,8960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0,2056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0,7400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0,3217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0,9315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0,3517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Logistic Regression (SMOTE)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0,8740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0,1991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0,9200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0,3274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0,9586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0,4830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XGBoost (SMOTE + tuning)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0,8953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0,2077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0,7600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0,3262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0,9311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0,3827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960120" y="5554980"/>
            <a:ext cx="16322040" cy="548640"/>
            <a:chOff x="0" y="0"/>
            <a:chExt cx="2176272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5A649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Interpretasi Trade-off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51560" y="6179820"/>
            <a:ext cx="1613916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Ketiga model menghadapi trade-off yang sama antara Recall tinggi dan Precision rendah, konsekuensi logis dari rasio ketimpangan 29:1. Random Forest (Recall 0,74) dipilih sebagai model utama, XGBoost (Recall 0,76) tampil kompetitif sebagai pembanding kedua, sementara Logistic Regression unggul di PR-AUC dan ROC-AUC karena mengejar Recall hingga 0,92 dengan konsekuensi Precision yang lebih rendah.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1560" y="8031480"/>
            <a:ext cx="1613916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i="true">
                <a:solidFill>
                  <a:srgbClr val="5A649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Validation set (1.500 baris, Random Forest) menunjukkan hasil yang konsisten, precision 0,2264, recall 0,72, ROC-AUC 0,916, memperkuat bahwa performa model ini stabil dan tidak dipengaruhi kebetulan dari satu kali pembagian data.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1097280"/>
            <a:ext cx="16184880" cy="1044626"/>
            <a:chOff x="0" y="0"/>
            <a:chExt cx="21579840" cy="1392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79839" cy="1392834"/>
            </a:xfrm>
            <a:custGeom>
              <a:avLst/>
              <a:gdLst/>
              <a:ahLst/>
              <a:cxnLst/>
              <a:rect r="r" b="b" t="t" l="l"/>
              <a:pathLst>
                <a:path h="1392834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92834"/>
                  </a:lnTo>
                  <a:lnTo>
                    <a:pt x="0" y="1392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935" r="0" b="-247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79840" cy="1430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Feature Importance &amp; SHAP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6012" y="1741932"/>
            <a:ext cx="10369296" cy="8174736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0012680" y="2606040"/>
            <a:ext cx="7269480" cy="548640"/>
            <a:chOff x="0" y="0"/>
            <a:chExt cx="969264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Temuan SHAP (TreeExplainer)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104120" y="3221355"/>
            <a:ext cx="7086600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SHAP bar plot mengonfirmasi urutan kepentingan fitur yang sama dengan feature importance bawaan.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SHAP summary plot menambahkan informasi arah pengaruh, nilai Bank Balance dan rasio saldo-gaji yang tinggi mendorong prediksi ke arah risiko default.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Temuan ini sejalan dengan hasil EDA, nasabah default punya saldo nominal tinggi namun rasio terhadap gajinya cenderung tidak sehat.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86751" y="1028700"/>
            <a:ext cx="10514499" cy="1044626"/>
            <a:chOff x="0" y="0"/>
            <a:chExt cx="14019332" cy="1392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19332" cy="1392834"/>
            </a:xfrm>
            <a:custGeom>
              <a:avLst/>
              <a:gdLst/>
              <a:ahLst/>
              <a:cxnLst/>
              <a:rect r="r" b="b" t="t" l="l"/>
              <a:pathLst>
                <a:path h="1392834" w="14019332">
                  <a:moveTo>
                    <a:pt x="0" y="0"/>
                  </a:moveTo>
                  <a:lnTo>
                    <a:pt x="14019332" y="0"/>
                  </a:lnTo>
                  <a:lnTo>
                    <a:pt x="14019332" y="1392834"/>
                  </a:lnTo>
                  <a:lnTo>
                    <a:pt x="0" y="1392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935" r="-53929" b="-247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019332" cy="1430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Overfitting &amp; Pemilihan Model Terbaik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674620"/>
            <a:ext cx="7818120" cy="548640"/>
            <a:chOff x="0" y="0"/>
            <a:chExt cx="1042416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2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4241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5A649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Kesenjangan Train vs Test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60120" y="3291840"/>
          <a:ext cx="7772400" cy="1545167"/>
        </p:xfrm>
        <a:graphic>
          <a:graphicData uri="http://schemas.openxmlformats.org/drawingml/2006/table">
            <a:tbl>
              <a:tblPr/>
              <a:tblGrid>
                <a:gridCol w="2584548"/>
                <a:gridCol w="1774298"/>
                <a:gridCol w="1774298"/>
                <a:gridCol w="1639256"/>
              </a:tblGrid>
              <a:tr h="5547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Train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Selisih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</a:tr>
              <a:tr h="4952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0,9646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0,3217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C24A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0,6429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2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0,9746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0,7400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C24A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0,2346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051560" y="5151120"/>
            <a:ext cx="763524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5A649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Selisih ini jauh di atas ambang 0,15 karena SMOTE diterapkan sebelum fold cross-validation dibagi (Santos dkk., 2018), sehingga skor CV menjadi optimis. Meski begitu, validasi dan test set tetap konsisten satu sama lain.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26880" y="2674620"/>
            <a:ext cx="8023860" cy="6926580"/>
            <a:chOff x="0" y="0"/>
            <a:chExt cx="10698480" cy="9235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98480" cy="9235440"/>
            </a:xfrm>
            <a:custGeom>
              <a:avLst/>
              <a:gdLst/>
              <a:ahLst/>
              <a:cxnLst/>
              <a:rect r="r" b="b" t="t" l="l"/>
              <a:pathLst>
                <a:path h="923544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9015984"/>
                  </a:lnTo>
                  <a:cubicBezTo>
                    <a:pt x="10698480" y="9137142"/>
                    <a:pt x="10600182" y="9235440"/>
                    <a:pt x="10479024" y="9235440"/>
                  </a:cubicBezTo>
                  <a:lnTo>
                    <a:pt x="219456" y="9235440"/>
                  </a:lnTo>
                  <a:cubicBezTo>
                    <a:pt x="98298" y="9235440"/>
                    <a:pt x="0" y="9137142"/>
                    <a:pt x="0" y="9015984"/>
                  </a:cubicBezTo>
                  <a:close/>
                </a:path>
              </a:pathLst>
            </a:custGeom>
            <a:solidFill>
              <a:srgbClr val="7D9E9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875520" y="3017520"/>
            <a:ext cx="6995160" cy="822960"/>
            <a:chOff x="0" y="0"/>
            <a:chExt cx="93268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26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3268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 Terpilih: Random Forest (SMOTE)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966960" y="4044315"/>
            <a:ext cx="6812280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Keseimbangan precision-recall yang lebih praktis untuk analis kredit dibanding Logistic Regression yang mengejar Recall 0,92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Hasil validation dan test set konsisten satu sama lain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Kompatibel dengan SHAP TreeExplainer untuk interpretasi yang lebih kaya dan cepat dihitung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Regression (PR-AUC 0,4830) tetap relevan jika bisnis memprioritaskan recall maksimal, XGBoost (PR-AUC 0,3827) juga kompetitif sebagai pembanding kedua</a:t>
            </a:r>
          </a:p>
          <a:p>
            <a:pPr algn="l">
              <a:lnSpc>
                <a:spcPts val="234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00650" y="1028700"/>
            <a:ext cx="7886700" cy="1044626"/>
            <a:chOff x="0" y="0"/>
            <a:chExt cx="10515600" cy="1392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15600" cy="1392834"/>
            </a:xfrm>
            <a:custGeom>
              <a:avLst/>
              <a:gdLst/>
              <a:ahLst/>
              <a:cxnLst/>
              <a:rect r="r" b="b" t="t" l="l"/>
              <a:pathLst>
                <a:path h="1392834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1392834"/>
                  </a:lnTo>
                  <a:lnTo>
                    <a:pt x="0" y="1392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935" r="-105217" b="-247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515600" cy="1430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Arsitektur Aplikasi Streamlit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3154680"/>
            <a:ext cx="3566160" cy="2331720"/>
            <a:chOff x="0" y="0"/>
            <a:chExt cx="4754880" cy="3108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548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4754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535424" y="0"/>
                  </a:lnTo>
                  <a:cubicBezTo>
                    <a:pt x="4656582" y="0"/>
                    <a:pt x="4754880" y="98298"/>
                    <a:pt x="4754880" y="219456"/>
                  </a:cubicBezTo>
                  <a:lnTo>
                    <a:pt x="4754880" y="2889504"/>
                  </a:lnTo>
                  <a:cubicBezTo>
                    <a:pt x="4754880" y="3010662"/>
                    <a:pt x="4656582" y="3108960"/>
                    <a:pt x="4535424" y="3108960"/>
                  </a:cubicBezTo>
                  <a:lnTo>
                    <a:pt x="219456" y="3108960"/>
                  </a:lnTo>
                  <a:cubicBezTo>
                    <a:pt x="98298" y="3108960"/>
                    <a:pt x="0" y="3010662"/>
                    <a:pt x="0" y="2889504"/>
                  </a:cubicBezTo>
                  <a:close/>
                </a:path>
              </a:pathLst>
            </a:custGeom>
            <a:solidFill>
              <a:srgbClr val="D5EBE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40180" y="3360420"/>
            <a:ext cx="3154680" cy="685800"/>
            <a:chOff x="0" y="0"/>
            <a:chExt cx="420624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2062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 UI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31620" y="4131945"/>
            <a:ext cx="297180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A6491"/>
                </a:solidFill>
                <a:latin typeface="Calibri (MS)"/>
                <a:ea typeface="Calibri (MS)"/>
                <a:cs typeface="Calibri (MS)"/>
                <a:sym typeface="Calibri (MS)"/>
              </a:rPr>
              <a:t>Form input data nasabah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800600" y="3154680"/>
            <a:ext cx="480060" cy="2331720"/>
            <a:chOff x="0" y="0"/>
            <a:chExt cx="640080" cy="3108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0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3188" t="0" r="-573188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640080" cy="3175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5A649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80660" y="3154680"/>
            <a:ext cx="3566160" cy="2331720"/>
            <a:chOff x="0" y="0"/>
            <a:chExt cx="4754880" cy="3108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548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4754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535424" y="0"/>
                  </a:lnTo>
                  <a:cubicBezTo>
                    <a:pt x="4656582" y="0"/>
                    <a:pt x="4754880" y="98298"/>
                    <a:pt x="4754880" y="219456"/>
                  </a:cubicBezTo>
                  <a:lnTo>
                    <a:pt x="4754880" y="2889504"/>
                  </a:lnTo>
                  <a:cubicBezTo>
                    <a:pt x="4754880" y="3010662"/>
                    <a:pt x="4656582" y="3108960"/>
                    <a:pt x="4535424" y="3108960"/>
                  </a:cubicBezTo>
                  <a:lnTo>
                    <a:pt x="219456" y="3108960"/>
                  </a:lnTo>
                  <a:cubicBezTo>
                    <a:pt x="98298" y="3108960"/>
                    <a:pt x="0" y="3010662"/>
                    <a:pt x="0" y="2889504"/>
                  </a:cubicBezTo>
                  <a:close/>
                </a:path>
              </a:pathLst>
            </a:custGeom>
            <a:solidFill>
              <a:srgbClr val="D5EBE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86400" y="3360420"/>
            <a:ext cx="3154680" cy="685800"/>
            <a:chOff x="0" y="0"/>
            <a:chExt cx="420624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2062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FastAPI/Backend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577840" y="4131945"/>
            <a:ext cx="297180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A6491"/>
                </a:solidFill>
                <a:latin typeface="Calibri (MS)"/>
                <a:ea typeface="Calibri (MS)"/>
                <a:cs typeface="Calibri (MS)"/>
                <a:sym typeface="Calibri (MS)"/>
              </a:rPr>
              <a:t>Preprocessing &amp; inference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846820" y="3154680"/>
            <a:ext cx="480060" cy="2331720"/>
            <a:chOff x="0" y="0"/>
            <a:chExt cx="640080" cy="3108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00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3188" t="0" r="-57318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640080" cy="3175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5A649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26880" y="3154680"/>
            <a:ext cx="3566160" cy="2331720"/>
            <a:chOff x="0" y="0"/>
            <a:chExt cx="4754880" cy="3108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548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4754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535424" y="0"/>
                  </a:lnTo>
                  <a:cubicBezTo>
                    <a:pt x="4656582" y="0"/>
                    <a:pt x="4754880" y="98298"/>
                    <a:pt x="4754880" y="219456"/>
                  </a:cubicBezTo>
                  <a:lnTo>
                    <a:pt x="4754880" y="2889504"/>
                  </a:lnTo>
                  <a:cubicBezTo>
                    <a:pt x="4754880" y="3010662"/>
                    <a:pt x="4656582" y="3108960"/>
                    <a:pt x="4535424" y="3108960"/>
                  </a:cubicBezTo>
                  <a:lnTo>
                    <a:pt x="219456" y="3108960"/>
                  </a:lnTo>
                  <a:cubicBezTo>
                    <a:pt x="98298" y="3108960"/>
                    <a:pt x="0" y="3010662"/>
                    <a:pt x="0" y="2889504"/>
                  </a:cubicBezTo>
                  <a:close/>
                </a:path>
              </a:pathLst>
            </a:custGeom>
            <a:solidFill>
              <a:srgbClr val="7D9E9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32620" y="3360420"/>
            <a:ext cx="3154680" cy="685800"/>
            <a:chOff x="0" y="0"/>
            <a:chExt cx="420624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2062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624060" y="4131945"/>
            <a:ext cx="297180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predict_proba(X)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893040" y="3154680"/>
            <a:ext cx="480060" cy="2331720"/>
            <a:chOff x="0" y="0"/>
            <a:chExt cx="640080" cy="3108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00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3188" t="0" r="-57318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640080" cy="3175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5A649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373100" y="3154680"/>
            <a:ext cx="3566160" cy="2331720"/>
            <a:chOff x="0" y="0"/>
            <a:chExt cx="4754880" cy="3108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48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4754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535424" y="0"/>
                  </a:lnTo>
                  <a:cubicBezTo>
                    <a:pt x="4656582" y="0"/>
                    <a:pt x="4754880" y="98298"/>
                    <a:pt x="4754880" y="219456"/>
                  </a:cubicBezTo>
                  <a:lnTo>
                    <a:pt x="4754880" y="2889504"/>
                  </a:lnTo>
                  <a:cubicBezTo>
                    <a:pt x="4754880" y="3010662"/>
                    <a:pt x="4656582" y="3108960"/>
                    <a:pt x="4535424" y="3108960"/>
                  </a:cubicBezTo>
                  <a:lnTo>
                    <a:pt x="219456" y="3108960"/>
                  </a:lnTo>
                  <a:cubicBezTo>
                    <a:pt x="98298" y="3108960"/>
                    <a:pt x="0" y="3010662"/>
                    <a:pt x="0" y="2889504"/>
                  </a:cubicBezTo>
                  <a:close/>
                </a:path>
              </a:pathLst>
            </a:custGeom>
            <a:solidFill>
              <a:srgbClr val="D5EBE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578840" y="3360420"/>
            <a:ext cx="3154680" cy="685800"/>
            <a:chOff x="0" y="0"/>
            <a:chExt cx="420624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2062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670280" y="4131945"/>
            <a:ext cx="297180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A6491"/>
                </a:solidFill>
                <a:latin typeface="Calibri (MS)"/>
                <a:ea typeface="Calibri (MS)"/>
                <a:cs typeface="Calibri (MS)"/>
                <a:sym typeface="Calibri (MS)"/>
              </a:rPr>
              <a:t>Label risiko + kontribusi fitur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60120" y="6172200"/>
            <a:ext cx="16322040" cy="548640"/>
            <a:chOff x="0" y="0"/>
            <a:chExt cx="217627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5A649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Lima Halaman Wajib Aplikasi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0595" y="6848475"/>
            <a:ext cx="3105150" cy="979170"/>
            <a:chOff x="0" y="0"/>
            <a:chExt cx="4140200" cy="1305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402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414020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3487420" y="0"/>
                  </a:lnTo>
                  <a:cubicBezTo>
                    <a:pt x="3847973" y="0"/>
                    <a:pt x="4140200" y="292227"/>
                    <a:pt x="4140200" y="652780"/>
                  </a:cubicBezTo>
                  <a:cubicBezTo>
                    <a:pt x="4140200" y="1013333"/>
                    <a:pt x="3847973" y="1305560"/>
                    <a:pt x="3487420" y="1305560"/>
                  </a:cubicBez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AAD7D4"/>
            </a:solidFill>
            <a:ln w="19050" cap="sq">
              <a:solidFill>
                <a:srgbClr val="1E2761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60120" y="6858000"/>
            <a:ext cx="3086100" cy="960120"/>
            <a:chOff x="0" y="0"/>
            <a:chExt cx="4114800" cy="12801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1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AAD7D4">
                <a:alpha val="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1148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EDA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311015" y="6848475"/>
            <a:ext cx="3105150" cy="979170"/>
            <a:chOff x="0" y="0"/>
            <a:chExt cx="4140200" cy="1305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402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414020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3487420" y="0"/>
                  </a:lnTo>
                  <a:cubicBezTo>
                    <a:pt x="3847973" y="0"/>
                    <a:pt x="4140200" y="292227"/>
                    <a:pt x="4140200" y="652780"/>
                  </a:cubicBezTo>
                  <a:cubicBezTo>
                    <a:pt x="4140200" y="1013333"/>
                    <a:pt x="3847973" y="1305560"/>
                    <a:pt x="3487420" y="1305560"/>
                  </a:cubicBez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AAD7D4"/>
            </a:solidFill>
            <a:ln w="19050" cap="sq">
              <a:solidFill>
                <a:srgbClr val="1E2761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4320540" y="6858000"/>
            <a:ext cx="3086100" cy="960120"/>
            <a:chOff x="0" y="0"/>
            <a:chExt cx="4114800" cy="1280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1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1148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Demo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671435" y="6848475"/>
            <a:ext cx="3105150" cy="979170"/>
            <a:chOff x="0" y="0"/>
            <a:chExt cx="4140200" cy="13055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402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414020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3487420" y="0"/>
                  </a:lnTo>
                  <a:cubicBezTo>
                    <a:pt x="3847973" y="0"/>
                    <a:pt x="4140200" y="292227"/>
                    <a:pt x="4140200" y="652780"/>
                  </a:cubicBezTo>
                  <a:cubicBezTo>
                    <a:pt x="4140200" y="1013333"/>
                    <a:pt x="3847973" y="1305560"/>
                    <a:pt x="3487420" y="1305560"/>
                  </a:cubicBez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AAD7D4"/>
            </a:solidFill>
            <a:ln w="19050" cap="sq">
              <a:solidFill>
                <a:srgbClr val="1E2761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7680960" y="6858000"/>
            <a:ext cx="3086100" cy="960120"/>
            <a:chOff x="0" y="0"/>
            <a:chExt cx="4114800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1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1148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Evaluasi Model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031855" y="6848475"/>
            <a:ext cx="3105150" cy="979170"/>
            <a:chOff x="0" y="0"/>
            <a:chExt cx="4140200" cy="13055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1402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414020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3487420" y="0"/>
                  </a:lnTo>
                  <a:cubicBezTo>
                    <a:pt x="3847973" y="0"/>
                    <a:pt x="4140200" y="292227"/>
                    <a:pt x="4140200" y="652780"/>
                  </a:cubicBezTo>
                  <a:cubicBezTo>
                    <a:pt x="4140200" y="1013333"/>
                    <a:pt x="3847973" y="1305560"/>
                    <a:pt x="3487420" y="1305560"/>
                  </a:cubicBez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AAD7D4"/>
            </a:solidFill>
            <a:ln w="19050" cap="sq">
              <a:solidFill>
                <a:srgbClr val="1E2761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1041380" y="6858000"/>
            <a:ext cx="3086100" cy="960120"/>
            <a:chOff x="0" y="0"/>
            <a:chExt cx="4114800" cy="12801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11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1148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Interpretasi Hasil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392275" y="6848475"/>
            <a:ext cx="3105150" cy="979170"/>
            <a:chOff x="0" y="0"/>
            <a:chExt cx="4140200" cy="13055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1402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414020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lnTo>
                    <a:pt x="3487420" y="0"/>
                  </a:lnTo>
                  <a:cubicBezTo>
                    <a:pt x="3847973" y="0"/>
                    <a:pt x="4140200" y="292227"/>
                    <a:pt x="4140200" y="652780"/>
                  </a:cubicBezTo>
                  <a:cubicBezTo>
                    <a:pt x="4140200" y="1013333"/>
                    <a:pt x="3847973" y="1305560"/>
                    <a:pt x="3487420" y="1305560"/>
                  </a:cubicBezTo>
                  <a:lnTo>
                    <a:pt x="652780" y="1305560"/>
                  </a:ln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AAD7D4"/>
            </a:solidFill>
            <a:ln w="19050" cap="sq">
              <a:solidFill>
                <a:srgbClr val="1E2761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4401800" y="6858000"/>
            <a:ext cx="3086100" cy="960120"/>
            <a:chOff x="0" y="0"/>
            <a:chExt cx="4114800" cy="12801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1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1148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Dokumentasi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051560" y="8168640"/>
            <a:ext cx="16139160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i="true">
                <a:solidFill>
                  <a:srgbClr val="5A649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Dibangun dengan Streamlit, di-deploy ke Streamlit Community Cloud, kode lengkap (app.py, model pickle, requirements.txt) tersedia di repository GitHub publik.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6980" y="1364214"/>
            <a:ext cx="1037404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850"/>
              </a:lnSpc>
              <a:spcBef>
                <a:spcPct val="0"/>
              </a:spcBef>
            </a:pPr>
            <a:r>
              <a:rPr lang="en-US" b="true" sz="50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Ringkasan Temuan Penelitian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856289" y="2534562"/>
            <a:ext cx="10575421" cy="7203153"/>
            <a:chOff x="0" y="0"/>
            <a:chExt cx="14100561" cy="960420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717367" y="0"/>
              <a:ext cx="13383195" cy="2837980"/>
              <a:chOff x="0" y="0"/>
              <a:chExt cx="3360101" cy="71252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360101" cy="712528"/>
              </a:xfrm>
              <a:custGeom>
                <a:avLst/>
                <a:gdLst/>
                <a:ahLst/>
                <a:cxnLst/>
                <a:rect r="r" b="b" t="t" l="l"/>
                <a:pathLst>
                  <a:path h="712528" w="3360101">
                    <a:moveTo>
                      <a:pt x="38565" y="0"/>
                    </a:moveTo>
                    <a:lnTo>
                      <a:pt x="3321536" y="0"/>
                    </a:lnTo>
                    <a:cubicBezTo>
                      <a:pt x="3331764" y="0"/>
                      <a:pt x="3341573" y="4063"/>
                      <a:pt x="3348806" y="11296"/>
                    </a:cubicBezTo>
                    <a:cubicBezTo>
                      <a:pt x="3356038" y="18528"/>
                      <a:pt x="3360101" y="28337"/>
                      <a:pt x="3360101" y="38565"/>
                    </a:cubicBezTo>
                    <a:lnTo>
                      <a:pt x="3360101" y="673963"/>
                    </a:lnTo>
                    <a:cubicBezTo>
                      <a:pt x="3360101" y="695262"/>
                      <a:pt x="3342835" y="712528"/>
                      <a:pt x="3321536" y="712528"/>
                    </a:cubicBezTo>
                    <a:lnTo>
                      <a:pt x="38565" y="712528"/>
                    </a:lnTo>
                    <a:cubicBezTo>
                      <a:pt x="17266" y="712528"/>
                      <a:pt x="0" y="695262"/>
                      <a:pt x="0" y="673963"/>
                    </a:cubicBezTo>
                    <a:lnTo>
                      <a:pt x="0" y="38565"/>
                    </a:lnTo>
                    <a:cubicBezTo>
                      <a:pt x="0" y="17266"/>
                      <a:pt x="17266" y="0"/>
                      <a:pt x="38565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85725"/>
                <a:ext cx="3360101" cy="6268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717367" y="3382143"/>
              <a:ext cx="13383195" cy="2837980"/>
              <a:chOff x="0" y="0"/>
              <a:chExt cx="3360101" cy="71252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360101" cy="712528"/>
              </a:xfrm>
              <a:custGeom>
                <a:avLst/>
                <a:gdLst/>
                <a:ahLst/>
                <a:cxnLst/>
                <a:rect r="r" b="b" t="t" l="l"/>
                <a:pathLst>
                  <a:path h="712528" w="3360101">
                    <a:moveTo>
                      <a:pt x="38565" y="0"/>
                    </a:moveTo>
                    <a:lnTo>
                      <a:pt x="3321536" y="0"/>
                    </a:lnTo>
                    <a:cubicBezTo>
                      <a:pt x="3331764" y="0"/>
                      <a:pt x="3341573" y="4063"/>
                      <a:pt x="3348806" y="11296"/>
                    </a:cubicBezTo>
                    <a:cubicBezTo>
                      <a:pt x="3356038" y="18528"/>
                      <a:pt x="3360101" y="28337"/>
                      <a:pt x="3360101" y="38565"/>
                    </a:cubicBezTo>
                    <a:lnTo>
                      <a:pt x="3360101" y="673963"/>
                    </a:lnTo>
                    <a:cubicBezTo>
                      <a:pt x="3360101" y="695262"/>
                      <a:pt x="3342835" y="712528"/>
                      <a:pt x="3321536" y="712528"/>
                    </a:cubicBezTo>
                    <a:lnTo>
                      <a:pt x="38565" y="712528"/>
                    </a:lnTo>
                    <a:cubicBezTo>
                      <a:pt x="17266" y="712528"/>
                      <a:pt x="0" y="695262"/>
                      <a:pt x="0" y="673963"/>
                    </a:cubicBezTo>
                    <a:lnTo>
                      <a:pt x="0" y="38565"/>
                    </a:lnTo>
                    <a:cubicBezTo>
                      <a:pt x="0" y="17266"/>
                      <a:pt x="17266" y="0"/>
                      <a:pt x="38565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85725"/>
                <a:ext cx="3360101" cy="6268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717367" y="6766224"/>
              <a:ext cx="13383195" cy="2837980"/>
              <a:chOff x="0" y="0"/>
              <a:chExt cx="3360101" cy="71252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360101" cy="712528"/>
              </a:xfrm>
              <a:custGeom>
                <a:avLst/>
                <a:gdLst/>
                <a:ahLst/>
                <a:cxnLst/>
                <a:rect r="r" b="b" t="t" l="l"/>
                <a:pathLst>
                  <a:path h="712528" w="3360101">
                    <a:moveTo>
                      <a:pt x="38565" y="0"/>
                    </a:moveTo>
                    <a:lnTo>
                      <a:pt x="3321536" y="0"/>
                    </a:lnTo>
                    <a:cubicBezTo>
                      <a:pt x="3331764" y="0"/>
                      <a:pt x="3341573" y="4063"/>
                      <a:pt x="3348806" y="11296"/>
                    </a:cubicBezTo>
                    <a:cubicBezTo>
                      <a:pt x="3356038" y="18528"/>
                      <a:pt x="3360101" y="28337"/>
                      <a:pt x="3360101" y="38565"/>
                    </a:cubicBezTo>
                    <a:lnTo>
                      <a:pt x="3360101" y="673963"/>
                    </a:lnTo>
                    <a:cubicBezTo>
                      <a:pt x="3360101" y="695262"/>
                      <a:pt x="3342835" y="712528"/>
                      <a:pt x="3321536" y="712528"/>
                    </a:cubicBezTo>
                    <a:lnTo>
                      <a:pt x="38565" y="712528"/>
                    </a:lnTo>
                    <a:cubicBezTo>
                      <a:pt x="17266" y="712528"/>
                      <a:pt x="0" y="695262"/>
                      <a:pt x="0" y="673963"/>
                    </a:cubicBezTo>
                    <a:lnTo>
                      <a:pt x="0" y="38565"/>
                    </a:lnTo>
                    <a:cubicBezTo>
                      <a:pt x="0" y="17266"/>
                      <a:pt x="17266" y="0"/>
                      <a:pt x="38565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85725"/>
                <a:ext cx="3360101" cy="6268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080529" y="1128668"/>
              <a:ext cx="8466466" cy="571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770"/>
                </a:lnSpc>
                <a:spcBef>
                  <a:spcPct val="0"/>
                </a:spcBef>
              </a:pPr>
              <a:r>
                <a:rPr lang="en-US" sz="1311" spc="20">
                  <a:solidFill>
                    <a:srgbClr val="1C2120"/>
                  </a:solidFill>
                  <a:latin typeface="DM Sans"/>
                  <a:ea typeface="DM Sans"/>
                  <a:cs typeface="DM Sans"/>
                  <a:sym typeface="DM Sans"/>
                </a:rPr>
                <a:t>Tanpa SMOTE, </a:t>
              </a:r>
              <a:r>
                <a:rPr lang="en-US" sz="1311" spc="20" u="none">
                  <a:solidFill>
                    <a:srgbClr val="1C2120"/>
                  </a:solidFill>
                  <a:latin typeface="DM Sans"/>
                  <a:ea typeface="DM Sans"/>
                  <a:cs typeface="DM Sans"/>
                  <a:sym typeface="DM Sans"/>
                </a:rPr>
                <a:t>recall kelas default hanya 0,33 — model nyaris tidak berguna untuk mendeteksi nasabah berisiko.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091709" y="4504249"/>
              <a:ext cx="8995166" cy="571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770"/>
                </a:lnSpc>
                <a:spcBef>
                  <a:spcPct val="0"/>
                </a:spcBef>
              </a:pPr>
              <a:r>
                <a:rPr lang="en-US" sz="1311" spc="20">
                  <a:solidFill>
                    <a:srgbClr val="1C2120"/>
                  </a:solidFill>
                  <a:latin typeface="DM Sans"/>
                  <a:ea typeface="DM Sans"/>
                  <a:cs typeface="DM Sans"/>
                  <a:sym typeface="DM Sans"/>
                </a:rPr>
                <a:t>SMOTE</a:t>
              </a:r>
              <a:r>
                <a:rPr lang="en-US" sz="1311" spc="20" u="none">
                  <a:solidFill>
                    <a:srgbClr val="1C2120"/>
                  </a:solidFill>
                  <a:latin typeface="DM Sans"/>
                  <a:ea typeface="DM Sans"/>
                  <a:cs typeface="DM Sans"/>
                  <a:sym typeface="DM Sans"/>
                </a:rPr>
                <a:t> sebelum split fold CV membuat skor cross-validation optimis — evaluasi harus mengacu ke test set independen.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71204" y="7894892"/>
              <a:ext cx="7271144" cy="571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1770"/>
                </a:lnSpc>
                <a:spcBef>
                  <a:spcPct val="0"/>
                </a:spcBef>
              </a:pPr>
              <a:r>
                <a:rPr lang="en-US" sz="1311" spc="20">
                  <a:solidFill>
                    <a:srgbClr val="1C2120"/>
                  </a:solidFill>
                  <a:latin typeface="DM Sans"/>
                  <a:ea typeface="DM Sans"/>
                  <a:cs typeface="DM Sans"/>
                  <a:sym typeface="DM Sans"/>
                </a:rPr>
                <a:t>Bank</a:t>
              </a:r>
              <a:r>
                <a:rPr lang="en-US" sz="1311" spc="20" u="none">
                  <a:solidFill>
                    <a:srgbClr val="1C2120"/>
                  </a:solidFill>
                  <a:latin typeface="DM Sans"/>
                  <a:ea typeface="DM Sans"/>
                  <a:cs typeface="DM Sans"/>
                  <a:sym typeface="DM Sans"/>
                </a:rPr>
                <a:t> Balance dan Balance_to_Salary_Ratio adalah dua fitur paling berpengaruh terhadap risiko gagal bayar nasabah.</a:t>
              </a:r>
            </a:p>
          </p:txBody>
        </p:sp>
        <p:sp>
          <p:nvSpPr>
            <p:cNvPr name="AutoShape 16" id="16"/>
            <p:cNvSpPr/>
            <p:nvPr/>
          </p:nvSpPr>
          <p:spPr>
            <a:xfrm flipV="true">
              <a:off x="3430870" y="1012181"/>
              <a:ext cx="0" cy="98506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V="true">
              <a:off x="3430870" y="4308603"/>
              <a:ext cx="0" cy="98506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flipV="true">
              <a:off x="3456270" y="7778405"/>
              <a:ext cx="0" cy="98506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9" id="19"/>
            <p:cNvGrpSpPr/>
            <p:nvPr/>
          </p:nvGrpSpPr>
          <p:grpSpPr>
            <a:xfrm rot="0">
              <a:off x="1292542" y="816037"/>
              <a:ext cx="1280160" cy="1280160"/>
              <a:chOff x="0" y="0"/>
              <a:chExt cx="1280160" cy="128016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80160" cy="1280160"/>
              </a:xfrm>
              <a:custGeom>
                <a:avLst/>
                <a:gdLst/>
                <a:ahLst/>
                <a:cxnLst/>
                <a:rect r="r" b="b" t="t" l="l"/>
                <a:pathLst>
                  <a:path h="1280160" w="1280160">
                    <a:moveTo>
                      <a:pt x="0" y="640080"/>
                    </a:moveTo>
                    <a:cubicBezTo>
                      <a:pt x="0" y="286512"/>
                      <a:pt x="286512" y="0"/>
                      <a:pt x="640080" y="0"/>
                    </a:cubicBezTo>
                    <a:cubicBezTo>
                      <a:pt x="993648" y="0"/>
                      <a:pt x="1280160" y="286512"/>
                      <a:pt x="1280160" y="640080"/>
                    </a:cubicBezTo>
                    <a:cubicBezTo>
                      <a:pt x="1280160" y="993648"/>
                      <a:pt x="993648" y="1280160"/>
                      <a:pt x="640080" y="1280160"/>
                    </a:cubicBezTo>
                    <a:cubicBezTo>
                      <a:pt x="286512" y="1280160"/>
                      <a:pt x="0" y="993648"/>
                      <a:pt x="0" y="640080"/>
                    </a:cubicBezTo>
                    <a:close/>
                  </a:path>
                </a:pathLst>
              </a:custGeom>
              <a:solidFill>
                <a:srgbClr val="1E2761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292542" y="816037"/>
              <a:ext cx="1280160" cy="1280160"/>
              <a:chOff x="0" y="0"/>
              <a:chExt cx="1280160" cy="128016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80160" cy="1280160"/>
              </a:xfrm>
              <a:custGeom>
                <a:avLst/>
                <a:gdLst/>
                <a:ahLst/>
                <a:cxnLst/>
                <a:rect r="r" b="b" t="t" l="l"/>
                <a:pathLst>
                  <a:path h="1280160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1280160"/>
                    </a:lnTo>
                    <a:lnTo>
                      <a:pt x="0" y="12801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66675"/>
                <a:ext cx="1280160" cy="134683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960"/>
                  </a:lnSpc>
                </a:pPr>
                <a:r>
                  <a:rPr lang="en-US" sz="33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490310" y="4154492"/>
              <a:ext cx="1280160" cy="1280160"/>
              <a:chOff x="0" y="0"/>
              <a:chExt cx="1280160" cy="12801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80160" cy="1280160"/>
              </a:xfrm>
              <a:custGeom>
                <a:avLst/>
                <a:gdLst/>
                <a:ahLst/>
                <a:cxnLst/>
                <a:rect r="r" b="b" t="t" l="l"/>
                <a:pathLst>
                  <a:path h="1280160" w="1280160">
                    <a:moveTo>
                      <a:pt x="0" y="640080"/>
                    </a:moveTo>
                    <a:cubicBezTo>
                      <a:pt x="0" y="286512"/>
                      <a:pt x="286512" y="0"/>
                      <a:pt x="640080" y="0"/>
                    </a:cubicBezTo>
                    <a:cubicBezTo>
                      <a:pt x="993648" y="0"/>
                      <a:pt x="1280160" y="286512"/>
                      <a:pt x="1280160" y="640080"/>
                    </a:cubicBezTo>
                    <a:cubicBezTo>
                      <a:pt x="1280160" y="993648"/>
                      <a:pt x="993648" y="1280160"/>
                      <a:pt x="640080" y="1280160"/>
                    </a:cubicBezTo>
                    <a:cubicBezTo>
                      <a:pt x="286512" y="1280160"/>
                      <a:pt x="0" y="993648"/>
                      <a:pt x="0" y="640080"/>
                    </a:cubicBezTo>
                    <a:close/>
                  </a:path>
                </a:pathLst>
              </a:custGeom>
              <a:solidFill>
                <a:srgbClr val="1E2761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490310" y="4154492"/>
              <a:ext cx="1280160" cy="1280160"/>
              <a:chOff x="0" y="0"/>
              <a:chExt cx="1280160" cy="128016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80160" cy="1280160"/>
              </a:xfrm>
              <a:custGeom>
                <a:avLst/>
                <a:gdLst/>
                <a:ahLst/>
                <a:cxnLst/>
                <a:rect r="r" b="b" t="t" l="l"/>
                <a:pathLst>
                  <a:path h="1280160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1280160"/>
                    </a:lnTo>
                    <a:lnTo>
                      <a:pt x="0" y="12801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66675"/>
                <a:ext cx="1280160" cy="134683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960"/>
                  </a:lnSpc>
                </a:pPr>
                <a:r>
                  <a:rPr lang="en-US" sz="33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490310" y="7540924"/>
              <a:ext cx="1280160" cy="1280160"/>
              <a:chOff x="0" y="0"/>
              <a:chExt cx="1280160" cy="128016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280160" cy="1280160"/>
              </a:xfrm>
              <a:custGeom>
                <a:avLst/>
                <a:gdLst/>
                <a:ahLst/>
                <a:cxnLst/>
                <a:rect r="r" b="b" t="t" l="l"/>
                <a:pathLst>
                  <a:path h="1280160" w="1280160">
                    <a:moveTo>
                      <a:pt x="0" y="640080"/>
                    </a:moveTo>
                    <a:cubicBezTo>
                      <a:pt x="0" y="286512"/>
                      <a:pt x="286512" y="0"/>
                      <a:pt x="640080" y="0"/>
                    </a:cubicBezTo>
                    <a:cubicBezTo>
                      <a:pt x="993648" y="0"/>
                      <a:pt x="1280160" y="286512"/>
                      <a:pt x="1280160" y="640080"/>
                    </a:cubicBezTo>
                    <a:cubicBezTo>
                      <a:pt x="1280160" y="993648"/>
                      <a:pt x="993648" y="1280160"/>
                      <a:pt x="640080" y="1280160"/>
                    </a:cubicBezTo>
                    <a:cubicBezTo>
                      <a:pt x="286512" y="1280160"/>
                      <a:pt x="0" y="993648"/>
                      <a:pt x="0" y="640080"/>
                    </a:cubicBezTo>
                    <a:close/>
                  </a:path>
                </a:pathLst>
              </a:custGeom>
              <a:solidFill>
                <a:srgbClr val="1E2761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490310" y="7540924"/>
              <a:ext cx="1280160" cy="1280160"/>
              <a:chOff x="0" y="0"/>
              <a:chExt cx="1280160" cy="128016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80160" cy="1280160"/>
              </a:xfrm>
              <a:custGeom>
                <a:avLst/>
                <a:gdLst/>
                <a:ahLst/>
                <a:cxnLst/>
                <a:rect r="r" b="b" t="t" l="l"/>
                <a:pathLst>
                  <a:path h="1280160" w="1280160">
                    <a:moveTo>
                      <a:pt x="0" y="0"/>
                    </a:moveTo>
                    <a:lnTo>
                      <a:pt x="1280160" y="0"/>
                    </a:lnTo>
                    <a:lnTo>
                      <a:pt x="1280160" y="1280160"/>
                    </a:lnTo>
                    <a:lnTo>
                      <a:pt x="0" y="12801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66675"/>
                <a:ext cx="1280160" cy="134683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960"/>
                  </a:lnSpc>
                </a:pPr>
                <a:r>
                  <a:rPr lang="en-US" sz="33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244094"/>
              <a:ext cx="13383195" cy="437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1C21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Penanganan Imbalance Krusial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4071204" y="3717188"/>
              <a:ext cx="4763082" cy="437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1C21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</a:t>
              </a:r>
              <a:r>
                <a:rPr lang="en-US" b="true" sz="1899">
                  <a:solidFill>
                    <a:srgbClr val="1C21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aspadai Bias Evaluasi CV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4071204" y="7064674"/>
              <a:ext cx="5981392" cy="437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1C21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  <a:r>
                <a:rPr lang="en-US" b="true" sz="1899">
                  <a:solidFill>
                    <a:srgbClr val="1C21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aldo &amp; Rasio Saldo-Gaji Dominan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21580" y="1165860"/>
            <a:ext cx="8183880" cy="1044626"/>
            <a:chOff x="0" y="0"/>
            <a:chExt cx="10911840" cy="1392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11839" cy="1392834"/>
            </a:xfrm>
            <a:custGeom>
              <a:avLst/>
              <a:gdLst/>
              <a:ahLst/>
              <a:cxnLst/>
              <a:rect r="r" b="b" t="t" l="l"/>
              <a:pathLst>
                <a:path h="1392834" w="10911839">
                  <a:moveTo>
                    <a:pt x="0" y="0"/>
                  </a:moveTo>
                  <a:lnTo>
                    <a:pt x="10911839" y="0"/>
                  </a:lnTo>
                  <a:lnTo>
                    <a:pt x="10911839" y="1392834"/>
                  </a:lnTo>
                  <a:lnTo>
                    <a:pt x="0" y="1392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935" r="-97765" b="-247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11840" cy="1430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Pengembangan Lebih Lanjut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60120" y="2743200"/>
          <a:ext cx="16306800" cy="6019800"/>
        </p:xfrm>
        <a:graphic>
          <a:graphicData uri="http://schemas.openxmlformats.org/drawingml/2006/table">
            <a:tbl>
              <a:tblPr/>
              <a:tblGrid>
                <a:gridCol w="1112690"/>
                <a:gridCol w="15194110"/>
              </a:tblGrid>
              <a:tr h="1504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Terapkan SMOTE di dalam pipeline cross-validation (imblearn.Pipeline) untuk estimasi performa yang lebih valid.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4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Eksplorasi threshold tuning untuk menyeimbangkan precision dan recall sesuai kebutuhan bisnis kredit.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4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Uji model pada dataset dengan fitur lebih kaya (riwayat kredit, jumlah tanggungan) untuk validasi pola feature importance.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4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E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Posisikan model sebagai alat bantu early-warning bagi analis kredit, bukan pengganti keputusan akhir manusia.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A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400568"/>
            <a:ext cx="11923966" cy="288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652409" y="6430075"/>
            <a:ext cx="7396288" cy="906661"/>
            <a:chOff x="0" y="0"/>
            <a:chExt cx="1947993" cy="2387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7993" cy="238791"/>
            </a:xfrm>
            <a:custGeom>
              <a:avLst/>
              <a:gdLst/>
              <a:ahLst/>
              <a:cxnLst/>
              <a:rect r="r" b="b" t="t" l="l"/>
              <a:pathLst>
                <a:path h="238791" w="1947993">
                  <a:moveTo>
                    <a:pt x="0" y="0"/>
                  </a:moveTo>
                  <a:lnTo>
                    <a:pt x="1947993" y="0"/>
                  </a:lnTo>
                  <a:lnTo>
                    <a:pt x="1947993" y="238791"/>
                  </a:lnTo>
                  <a:lnTo>
                    <a:pt x="0" y="238791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47993" cy="276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06770" y="6449125"/>
            <a:ext cx="6617965" cy="90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</a:t>
            </a:r>
          </a:p>
          <a:p>
            <a:pPr algn="ctr">
              <a:lnSpc>
                <a:spcPts val="3445"/>
              </a:lnSpc>
            </a:pPr>
            <a:r>
              <a:rPr lang="en-US" b="true" sz="3445" spc="-68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DANDY PRASETYO NUGROHO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DAHPyfvpzB0</dc:identifier>
  <dcterms:modified xsi:type="dcterms:W3CDTF">2011-08-01T06:04:30Z</dcterms:modified>
  <cp:revision>1</cp:revision>
  <dc:title>Klasifikasi Risiko Gagal Bayar Nasabah UAS PM</dc:title>
</cp:coreProperties>
</file>